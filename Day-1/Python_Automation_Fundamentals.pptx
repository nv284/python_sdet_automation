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participants. Set expectations: This session bridges Python basics with real-world automation use cases. Emphasize that we'll focus on writing clean, maintainable scripts, not just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agenda. Highlight the flow: theory → live demo → hands-on labs → Q&amp;A. Mention that every concept will be tied back to test/data/CI automation. Ask participants about their current scripting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Java/C# verbosity. Mention Python's role in DevOps/test automation. Ask: 'What automation tasks do you currently do manually?' Highlight that Python's 'batteries-included' philosophy speeds up prototyping and productionization.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professional projects ALWAYS use venvs. Show Windows vs Mac/Linux activation differences. Warn against pip install without venv in shared systems. Explain how requirements.txt ensures team reproducibility and CI pipeline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'name tag' analogy. Demonstrate id() live. Explain why this matters in automation: passing test data by reference vs value, avoiding unintended state mutations in test suites. Show how lst.append() changes shared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float precision issues (0.1 + 0.2 != 0.3). Explain why strings are immutable (safe for concurrent test runs). Relate to test data types (IDs, URLs, flags). Show truthy/falsy behavior in conditional assertions.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input() always returns str. Show real automation failure: reading CSV/API response as string, trying math without cast. Introduce try/except as industry standard. Demonstrate how validation prevents CI pipeline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test assertions. Explain short-circuiting (False and expensive_call() skips call). Warn about == vs is (value vs identity). Relate to conditional test flows like retry logic or environment-specific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why f-strings win (speed, readability, inline expressions). Mention logging module for production automation (levels, file output, structured logs). Relate to CI/CD log parsing and debugging failed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them step-by-step. Ask them to run it. Then break it intentionally (enter text) to show need for validation. Discuss how this mirrors reading test config files or CSV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defensive programming. Show how this pattern mirrors test data validation before API/UI interactions. Discuss ValueError handling, loop control, and user feedback. Relate to CI data validation gates.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string manipulation is critical for test data prep. Connect to regex mention (but keep it simple). Emphasize idempotency in test data. Discuss case-insensitive comparisons and whitespace trimming in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automation mindset: readable, reusable, validated. Recommend practice resources. Explain how these fundamentals scale to pytest fixtures, API clients, and CI scripts. Open floor for real-world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 feedback. Share GitHub repo link with all slide examples + solutions. Encourage pairing up for hands-on practice. Preview next session structure. Thank participants.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Fundamentals for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Concepts, Examples &amp; Hands-on Labs | Presenter: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Python overview for automation ecosystem</a:t>
            </a:r>
          </a:p>
          <a:p>
            <a:pPr>
              <a:spcAft>
                <a:spcPts val="600"/>
              </a:spcAft>
            </a:pPr>
            <a:r>
              <a:t>• Installation &amp; environment setup (venv, pip)</a:t>
            </a:r>
          </a:p>
          <a:p>
            <a:pPr>
              <a:spcAft>
                <a:spcPts val="600"/>
              </a:spcAft>
            </a:pPr>
            <a:r>
              <a:t>• Variables &amp; memory concepts</a:t>
            </a:r>
          </a:p>
          <a:p>
            <a:pPr>
              <a:spcAft>
                <a:spcPts val="600"/>
              </a:spcAft>
            </a:pPr>
            <a:r>
              <a:t>• Core data types: int, float, str, bool</a:t>
            </a:r>
          </a:p>
          <a:p>
            <a:pPr>
              <a:spcAft>
                <a:spcPts val="600"/>
              </a:spcAft>
            </a:pPr>
            <a:r>
              <a:t>• Type casting &amp; validation techniques</a:t>
            </a:r>
          </a:p>
          <a:p>
            <a:pPr>
              <a:spcAft>
                <a:spcPts val="600"/>
              </a:spcAft>
            </a:pPr>
            <a:r>
              <a:t>• Operators: arithmetic, relational, logical</a:t>
            </a:r>
          </a:p>
          <a:p>
            <a:pPr>
              <a:spcAft>
                <a:spcPts val="600"/>
              </a:spcAft>
            </a:pPr>
            <a:r>
              <a:t>• Input/Output handling &amp; formatting</a:t>
            </a:r>
          </a:p>
          <a:p>
            <a:pPr>
              <a:spcAft>
                <a:spcPts val="600"/>
              </a:spcAft>
            </a:pPr>
            <a:r>
              <a:t>• Hands-on: Scripts, validation, string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Overview for Automation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Why Python dominates automation: readable syntax, massive ecosystem, cross-platform</a:t>
            </a:r>
          </a:p>
          <a:p>
            <a:pPr>
              <a:spcAft>
                <a:spcPts val="600"/>
              </a:spcAft>
            </a:pPr>
            <a:r>
              <a:t>• Key libraries: requests (API), Selenium/Playwright (UI), pytest (testing), pandas (data)</a:t>
            </a:r>
          </a:p>
          <a:p>
            <a:pPr>
              <a:spcAft>
                <a:spcPts val="600"/>
              </a:spcAft>
            </a:pPr>
            <a:r>
              <a:t>• Seamless CI/CD integration (GitHub Actions, Jenkins, GitLab CI)</a:t>
            </a:r>
          </a:p>
          <a:p>
            <a:pPr>
              <a:spcAft>
                <a:spcPts val="600"/>
              </a:spcAft>
            </a:pPr>
            <a:r>
              <a:t>Example: import subprocess; subprocess.run(["git", "status"])</a:t>
            </a:r>
          </a:p>
          <a:p>
            <a:pPr>
              <a:spcAft>
                <a:spcPts val="600"/>
              </a:spcAft>
            </a:pPr>
            <a:r>
              <a:t>• Scales from 5-line scripts to enterprise test frameworks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&amp; Environment Setup (venv, pip)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Global installs cause dependency conflicts → use virtual environments</a:t>
            </a:r>
          </a:p>
          <a:p>
            <a:pPr>
              <a:spcAft>
                <a:spcPts val="600"/>
              </a:spcAft>
            </a:pPr>
            <a:r>
              <a:t>• venv: isolated Python environment per project</a:t>
            </a:r>
          </a:p>
          <a:p>
            <a:pPr>
              <a:spcAft>
                <a:spcPts val="600"/>
              </a:spcAft>
            </a:pPr>
            <a:r>
              <a:t>• pip: package manager for installing libraries</a:t>
            </a:r>
          </a:p>
          <a:p>
            <a:pPr>
              <a:spcAft>
                <a:spcPts val="600"/>
              </a:spcAft>
            </a:pPr>
            <a:r>
              <a:t>Commands:</a:t>
            </a:r>
          </a:p>
          <a:p>
            <a:pPr>
              <a:spcAft>
                <a:spcPts val="600"/>
              </a:spcAft>
            </a:pPr>
            <a:r>
              <a:t>  python -m venv .venv</a:t>
            </a:r>
          </a:p>
          <a:p>
            <a:pPr>
              <a:spcAft>
                <a:spcPts val="600"/>
              </a:spcAft>
            </a:pPr>
            <a:r>
              <a:t>  source .venv/bin/activate  # Mac/Linux</a:t>
            </a:r>
          </a:p>
          <a:p>
            <a:pPr>
              <a:spcAft>
                <a:spcPts val="600"/>
              </a:spcAft>
            </a:pPr>
            <a:r>
              <a:t>  .venv\Scripts\activate    # Windows</a:t>
            </a:r>
          </a:p>
          <a:p>
            <a:pPr>
              <a:spcAft>
                <a:spcPts val="600"/>
              </a:spcAft>
            </a:pPr>
            <a:r>
              <a:t>  pip install requests pytest</a:t>
            </a:r>
          </a:p>
          <a:p>
            <a:pPr>
              <a:spcAft>
                <a:spcPts val="600"/>
              </a:spcAft>
            </a:pPr>
            <a:r>
              <a:t>  pip freeze &gt; requirements.txt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&amp; Memory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Variables are REFERENCES to objects, not storage boxes</a:t>
            </a:r>
          </a:p>
          <a:p>
            <a:pPr>
              <a:spcAft>
                <a:spcPts val="600"/>
              </a:spcAft>
            </a:pPr>
            <a:r>
              <a:t>• Dynamic typing: type is determined at runtime</a:t>
            </a:r>
          </a:p>
          <a:p>
            <a:pPr>
              <a:spcAft>
                <a:spcPts val="600"/>
              </a:spcAft>
            </a:pPr>
            <a:r>
              <a:t>• Immutable (int, str, tuple) vs Mutable (list, dict) affects memory behavior</a:t>
            </a:r>
          </a:p>
          <a:p>
            <a:pPr>
              <a:spcAft>
                <a:spcPts val="600"/>
              </a:spcAft>
            </a:pPr>
            <a:r>
              <a:t>Example: a = 10; b = a; a = 20; print(b) → 10</a:t>
            </a:r>
          </a:p>
          <a:p>
            <a:pPr>
              <a:spcAft>
                <a:spcPts val="600"/>
              </a:spcAft>
            </a:pPr>
            <a:r>
              <a:t>• id() shows memory address; useful for debugging test data leaks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int: arbitrary precision whole numbers (42, -5)</a:t>
            </a:r>
          </a:p>
          <a:p>
            <a:pPr>
              <a:spcAft>
                <a:spcPts val="600"/>
              </a:spcAft>
            </a:pPr>
            <a:r>
              <a:t>• float: IEEE 754 decimals (3.14, 0.0) → beware precision!</a:t>
            </a:r>
          </a:p>
          <a:p>
            <a:pPr>
              <a:spcAft>
                <a:spcPts val="600"/>
              </a:spcAft>
            </a:pPr>
            <a:r>
              <a:t>• str: Unicode text, IMMUTABLE ('Hello', 'https://api.test')</a:t>
            </a:r>
          </a:p>
          <a:p>
            <a:pPr>
              <a:spcAft>
                <a:spcPts val="600"/>
              </a:spcAft>
            </a:pPr>
            <a:r>
              <a:t>• bool: True/False + truthy/falsy evaluation (empty str/list → False)</a:t>
            </a:r>
          </a:p>
          <a:p>
            <a:pPr>
              <a:spcAft>
                <a:spcPts val="600"/>
              </a:spcAft>
            </a:pPr>
            <a:r>
              <a:t>• type() vs isinstance() for robust type checking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Casting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Explicit casting: int(), float(), str(), bool()</a:t>
            </a:r>
          </a:p>
          <a:p>
            <a:pPr>
              <a:spcAft>
                <a:spcPts val="600"/>
              </a:spcAft>
            </a:pPr>
            <a:r>
              <a:t>• Validation: .isdigit(), .isalpha(), try/except ValueError</a:t>
            </a:r>
          </a:p>
          <a:p>
            <a:pPr>
              <a:spcAft>
                <a:spcPts val="600"/>
              </a:spcAft>
            </a:pPr>
            <a:r>
              <a:t>• input() ALWAYS returns a string → casting without validation crashes scripts</a:t>
            </a:r>
          </a:p>
          <a:p>
            <a:pPr>
              <a:spcAft>
                <a:spcPts val="600"/>
              </a:spcAft>
            </a:pPr>
            <a:r>
              <a:t>Example: val = int(user_input) → ValueError if non-numeric</a:t>
            </a:r>
          </a:p>
          <a:p>
            <a:pPr>
              <a:spcAft>
                <a:spcPts val="600"/>
              </a:spcAft>
            </a:pPr>
            <a:r>
              <a:t>• Best practice: validate → cast → 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Operators (Arithmetic, Relational, Logical)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Arithmetic: + - * / // % **</a:t>
            </a:r>
          </a:p>
          <a:p>
            <a:pPr>
              <a:spcAft>
                <a:spcPts val="600"/>
              </a:spcAft>
            </a:pPr>
            <a:r>
              <a:t>• Relational: == != &gt; &lt; &gt;= &lt;= (returns bool)</a:t>
            </a:r>
          </a:p>
          <a:p>
            <a:pPr>
              <a:spcAft>
                <a:spcPts val="600"/>
              </a:spcAft>
            </a:pPr>
            <a:r>
              <a:t>• Logical: and or not (short-circuit evaluation)</a:t>
            </a:r>
          </a:p>
          <a:p>
            <a:pPr>
              <a:spcAft>
                <a:spcPts val="600"/>
              </a:spcAft>
            </a:pPr>
            <a:r>
              <a:t>• Operator precedence: parentheses recommended for readability</a:t>
            </a:r>
          </a:p>
          <a:p>
            <a:pPr>
              <a:spcAft>
                <a:spcPts val="600"/>
              </a:spcAft>
            </a:pPr>
            <a:r>
              <a:t>• Automation use: assertions, conditional test flows, status checks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Input/Output Handling &amp;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• input(): reads CLI input as string</a:t>
            </a:r>
          </a:p>
          <a:p>
            <a:pPr>
              <a:spcAft>
                <a:spcPts val="600"/>
              </a:spcAft>
            </a:pPr>
            <a:r>
              <a:t>• print(): modern formatting via f-strings (Python 3.6+)</a:t>
            </a:r>
          </a:p>
          <a:p>
            <a:pPr>
              <a:spcAft>
                <a:spcPts val="600"/>
              </a:spcAft>
            </a:pPr>
            <a:r>
              <a:t>• f-string specifiers: :.2f (decimals), &gt;10 (padding), etc.</a:t>
            </a:r>
          </a:p>
          <a:p>
            <a:pPr>
              <a:spcAft>
                <a:spcPts val="600"/>
              </a:spcAft>
            </a:pPr>
            <a:r>
              <a:t>• Production automation: prefer logging module over print()</a:t>
            </a:r>
          </a:p>
          <a:p>
            <a:pPr>
              <a:spcAft>
                <a:spcPts val="600"/>
              </a:spcAft>
            </a:pPr>
            <a:r>
              <a:t>Example: print(f'✅ Test passed in {t:.3f}s | Status: {s}')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1: Build Simple Scripts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Task: Rectangle Area &amp; Perimeter Calculator</a:t>
            </a:r>
          </a:p>
          <a:p>
            <a:pPr>
              <a:spcAft>
                <a:spcPts val="600"/>
              </a:spcAft>
            </a:pPr>
            <a:r>
              <a:t>Steps: take input → cast to float → calculate → format output</a:t>
            </a:r>
          </a:p>
          <a:p>
            <a:pPr>
              <a:spcAft>
                <a:spcPts val="600"/>
              </a:spcAft>
            </a:pPr>
            <a:r>
              <a:t>Code: length = float(input('Length: ')); width = float(input('Width: '));</a:t>
            </a:r>
          </a:p>
          <a:p>
            <a:pPr>
              <a:spcAft>
                <a:spcPts val="600"/>
              </a:spcAft>
            </a:pPr>
            <a:r>
              <a:t>      area = length * width; print(f'Area: {area:.2f}')</a:t>
            </a:r>
          </a:p>
          <a:p>
            <a:pPr>
              <a:spcAft>
                <a:spcPts val="600"/>
              </a:spcAft>
            </a:pPr>
            <a:r>
              <a:t>Goal: Combine I/O, casting, arithmetic, formatting in one 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2: Input Validation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Task: Robust Age/Number Validator (18-100 range)</a:t>
            </a:r>
          </a:p>
          <a:p>
            <a:pPr>
              <a:spcAft>
                <a:spcPts val="600"/>
              </a:spcAft>
            </a:pPr>
            <a:r>
              <a:t>Pattern: while True → try/except → range check → break on success</a:t>
            </a:r>
          </a:p>
          <a:p>
            <a:pPr>
              <a:spcAft>
                <a:spcPts val="600"/>
              </a:spcAft>
            </a:pPr>
            <a:r>
              <a:t>Code: while True: try: age = int(input('Age: ')); if 18&lt;=age&lt;=100: break</a:t>
            </a:r>
          </a:p>
          <a:p>
            <a:pPr>
              <a:spcAft>
                <a:spcPts val="600"/>
              </a:spcAft>
            </a:pPr>
            <a:r>
              <a:t>      except ValueError: print('Numbers only!')</a:t>
            </a:r>
          </a:p>
          <a:p>
            <a:pPr>
              <a:spcAft>
                <a:spcPts val="600"/>
              </a:spcAft>
            </a:pPr>
            <a:r>
              <a:t>Goal: Defensive programming for automation test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3: String-Based Test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Task: Validate Username Rules (3-15 chars, alphanumeric, starts with letter)</a:t>
            </a:r>
          </a:p>
          <a:p>
            <a:pPr>
              <a:spcAft>
                <a:spcPts val="600"/>
              </a:spcAft>
            </a:pPr>
            <a:r>
              <a:t>Methods: len(), .isalpha(), .isalnum(), .strip(), .lower()</a:t>
            </a:r>
          </a:p>
          <a:p>
            <a:pPr>
              <a:spcAft>
                <a:spcPts val="600"/>
              </a:spcAft>
            </a:pPr>
            <a:r>
              <a:t>Code: def validate(u): return 3&lt;=len(u)&lt;=15 and u[0].isalpha() and u.isalnum()</a:t>
            </a:r>
          </a:p>
          <a:p>
            <a:pPr>
              <a:spcAft>
                <a:spcPts val="600"/>
              </a:spcAft>
            </a:pPr>
            <a:r>
              <a:t>• String manipulation = 70% of UI/API test data prep</a:t>
            </a:r>
          </a:p>
          <a:p>
            <a:pPr>
              <a:spcAft>
                <a:spcPts val="600"/>
              </a:spcAft>
            </a:pPr>
            <a:r>
              <a:t>• Normalize inputs before assertions for reliable tests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Automation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✅ Python is automation-ready out of the box</a:t>
            </a:r>
          </a:p>
          <a:p>
            <a:pPr>
              <a:spcAft>
                <a:spcPts val="600"/>
              </a:spcAft>
            </a:pPr>
            <a:r>
              <a:t>✅ Environments keep dependencies isolated &amp; reproducible</a:t>
            </a:r>
          </a:p>
          <a:p>
            <a:pPr>
              <a:spcAft>
                <a:spcPts val="600"/>
              </a:spcAft>
            </a:pPr>
            <a:r>
              <a:t>✅ Variables reference memory; immutability prevents side effects</a:t>
            </a:r>
          </a:p>
          <a:p>
            <a:pPr>
              <a:spcAft>
                <a:spcPts val="600"/>
              </a:spcAft>
            </a:pPr>
            <a:r>
              <a:t>✅ Validate → Cast → Process prevents runtime crashes</a:t>
            </a:r>
          </a:p>
          <a:p>
            <a:pPr>
              <a:spcAft>
                <a:spcPts val="600"/>
              </a:spcAft>
            </a:pPr>
            <a:r>
              <a:t>✅ Use f-strings &amp; logging for clean, parseable automation output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📖 Official Docs: docs.python.org/3/</a:t>
            </a:r>
          </a:p>
          <a:p>
            <a:pPr>
              <a:spcAft>
                <a:spcPts val="600"/>
              </a:spcAft>
            </a:pPr>
            <a:r>
              <a:t>🛠️ Practice: Exercism, Codewars (Python track), pytest docs</a:t>
            </a:r>
          </a:p>
          <a:p>
            <a:pPr>
              <a:spcAft>
                <a:spcPts val="600"/>
              </a:spcAft>
            </a:pPr>
            <a:r>
              <a:t>📦 Starter Stack: VS Code + Python Ext + venv + Black/Ruff</a:t>
            </a:r>
          </a:p>
          <a:p>
            <a:pPr>
              <a:spcAft>
                <a:spcPts val="600"/>
              </a:spcAft>
            </a:pPr>
            <a:r>
              <a:t>🔜 Next Session: Functions, File I/O, pytest, Selenium/Requests intro</a:t>
            </a:r>
          </a:p>
          <a:p>
            <a:pPr>
              <a:spcAft>
                <a:spcPts val="600"/>
              </a:spcAft>
            </a:pPr>
            <a:r>
              <a:t>💬 Questions? Feedback? GitHub repo for all examples provided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